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1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502920" y="0"/>
            <a:ext cx="201168" cy="514350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1440E">
              <a:alpha val="60000"/>
            </a:srgbClr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0058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Festividades de la Costa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la Comida Ritual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E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las tradiciones culturales del litoral ecuatoriano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del Ecuador · Identidad, Sabor y Celebración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73152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Costa: Identidad y Fiesta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82296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76072" y="8961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Diversidad cultural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23444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costa ecuatoriana alberga pueblos Montubios, afrodescendientes, mestizos e indígenas Tsáchila, cada uno con festividades propias.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82296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76072" y="22219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🥘  Comida ritual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" y="256032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alimentos son protagonistas en cada celebración: el ceviche, la sopa marinera, el viche y el arroz con menestra acompañan ritos sagrados y profanos.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47472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411480" y="3474720"/>
            <a:ext cx="82296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576072" y="35478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🎶  Música y danza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" y="388620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marimba, el amorfino y el pasillo son pilares sonoros de las festividades costeñas, transmitidos oralmente de generación en generación.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868680"/>
            <a:ext cx="260604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126480" y="914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26480" y="14356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costeras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194560"/>
            <a:ext cx="260604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612648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126480" y="27614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festividades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520440"/>
            <a:ext cx="260604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6126480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126480" y="4087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FDC"/>
                </a:solidFill>
              </a:rPr>
              <a:t>PERSONA 1 · Introducción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73152" cy="50292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Comida Ritual en las Festividades Costeñas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Costa ecuatoriana, cocinar es un acto sagrado. Cada plato preparado para una festividad encierra memoria colectiva, identidad y gratitud.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60520" cy="347472"/>
          </a:xfrm>
          <a:prstGeom prst="rect">
            <a:avLst/>
          </a:prstGeom>
          <a:solidFill>
            <a:srgbClr val="C1440E">
              <a:alpha val="90000"/>
            </a:srgbClr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02920" y="1545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Viche de Pescado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11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Esmeraldas · Manabí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8541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Sopa ritual con maní, yuca y mariscos frescos. Se prepara en bodas y fiestas patronales.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4160520" cy="347472"/>
          </a:xfrm>
          <a:prstGeom prst="rect">
            <a:avLst/>
          </a:prstGeom>
          <a:solidFill>
            <a:srgbClr val="C1440E">
              <a:alpha val="90000"/>
            </a:srgbClr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892040" y="1545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Ceviche de Camarón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911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Guayas · Santa Elena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18541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 de bienvenida en fiestas populares y celebraciones cívicas en toda la costa.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347472"/>
          </a:xfrm>
          <a:prstGeom prst="rect">
            <a:avLst/>
          </a:prstGeom>
          <a:solidFill>
            <a:srgbClr val="C1440E">
              <a:alpha val="90000"/>
            </a:srgbClr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502920" y="31912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 de Guanta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57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Comunidades montubias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83133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en fiestas de cosecha y rodeos. Símbolo de abundancia y vida campesina.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4160520" cy="347472"/>
          </a:xfrm>
          <a:prstGeom prst="rect">
            <a:avLst/>
          </a:prstGeom>
          <a:solidFill>
            <a:srgbClr val="C1440E">
              <a:alpha val="90000"/>
            </a:srgbClr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4892040" y="31912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Maito de Pescado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557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Esmeraldas · Afrodescendiente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83133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Pescado envuelto en hoja de bijao, cocido al fuego. Presente en celebraciones de santos.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BB8"/>
                </a:solidFill>
              </a:rPr>
              <a:t>PERSONA 1 · Comida Ritual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1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548640" y="0"/>
            <a:ext cx="182880" cy="5143500"/>
          </a:xfrm>
          <a:prstGeom prst="rect">
            <a:avLst/>
          </a:prstGeom>
          <a:solidFill>
            <a:srgbClr val="E8A838">
              <a:alpha val="50000"/>
            </a:srgbClr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E8A838">
              <a:alpha val="50000"/>
            </a:srgbClr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0058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Manabí: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Fiestas de San Pedro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San Pablo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Tradición, devoción y sabor en la tierra del sombrero de paja toquilla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de Manabí · 29 de junio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73152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 Pedro y San Pablo: Historia y Devoción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29 de junio es la fecha más esperada en muchos cantones manabitas. Las festividades sintetizan la fe católica con elementos indígenas precolombinos.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17904"/>
            <a:ext cx="438912" cy="43891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11480" y="1517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1956816"/>
            <a:ext cx="0" cy="457200"/>
          </a:xfrm>
          <a:prstGeom prst="line">
            <a:avLst/>
          </a:prstGeom>
          <a:noFill/>
          <a:ln w="25400">
            <a:solidFill>
              <a:srgbClr val="D4B896"/>
            </a:solidFill>
            <a:prstDash val="dash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1005840" y="1444752"/>
            <a:ext cx="7726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1143000" y="15087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colonial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79222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misioneros españoles superpusieron las fiestas de San Pedro y San Pablo (29 jun.) sobre festivales de solsticio de origen manteño-huancavilca.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04872"/>
            <a:ext cx="438912" cy="43891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11480" y="2404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2843784"/>
            <a:ext cx="0" cy="457200"/>
          </a:xfrm>
          <a:prstGeom prst="line">
            <a:avLst/>
          </a:prstGeom>
          <a:noFill/>
          <a:ln w="25400">
            <a:solidFill>
              <a:srgbClr val="D4B896"/>
            </a:solidFill>
            <a:prstDash val="dash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1005840" y="2331720"/>
            <a:ext cx="7726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1143000" y="23957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víspera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6791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noche del 28, se queman castillos de fuegos artificiales, se entonan amorfinos y se sirve caldo de palo con licor de caña.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91840"/>
            <a:ext cx="438912" cy="43891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" y="3730752"/>
            <a:ext cx="0" cy="457200"/>
          </a:xfrm>
          <a:prstGeom prst="line">
            <a:avLst/>
          </a:prstGeom>
          <a:noFill/>
          <a:ln w="25400">
            <a:solidFill>
              <a:srgbClr val="D4B896"/>
            </a:solidFill>
            <a:prstDash val="dash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1005840" y="3218688"/>
            <a:ext cx="7726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1143000" y="32826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procesión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5661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amanecer del 29, la imagen del santo recorre las calles acompañada de bandas de pueblo, montubios a caballo y danzantes.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178808"/>
            <a:ext cx="438912" cy="43891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411480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05840" y="4105656"/>
            <a:ext cx="7726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1143000" y="41696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comida sagrada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45312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 de gallina criolla, verde asado y viche de pescado se comparten comunalmente. La chicha de jora o guarapo completan la mesa ritual.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1A00"/>
                </a:solidFill>
              </a:rPr>
              <a:t>PERSONA 2 · Manabí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73152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Gastronomía Festiva de Manabí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651760" cy="777240"/>
          </a:xfrm>
          <a:prstGeom prst="rect">
            <a:avLst/>
          </a:prstGeom>
          <a:solidFill>
            <a:srgbClr val="C1440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 estelar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Viche de Pescado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maní molido, yuca, choclo y mariscos. Se prepara en ollas comunales durante la festividad. Es símbolo de identidad manabita.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651760" cy="777240"/>
          </a:xfrm>
          <a:prstGeom prst="rect">
            <a:avLst/>
          </a:prstGeom>
          <a:solidFill>
            <a:srgbClr val="E8A8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200400" y="8229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 de Gallina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Criolla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2542032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Gallina de campo cocinada con chicha de jora, naranjilla y especias. Se sirve en hojas de plátano en las mesas del festejo.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804672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6035040" y="804672"/>
            <a:ext cx="26517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6035040" y="8229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🫘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festiva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Caldo de Bola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Verde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542032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de plátano verde rellena de carne y especias en caldo rico. Presente en almuerzos comunitarios de las fiestas patronales.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1A00"/>
                </a:solidFill>
              </a:rPr>
              <a:t>PERSONA 2 · Gastronomía Manabí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DB554"/>
          </a:solidFill>
          <a:ln w="12700">
            <a:solidFill>
              <a:srgbClr val="2DB55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2DB554"/>
          </a:solidFill>
          <a:ln w="12700">
            <a:solidFill>
              <a:srgbClr val="2DB55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548640" y="0"/>
            <a:ext cx="201168" cy="5143500"/>
          </a:xfrm>
          <a:prstGeom prst="rect">
            <a:avLst/>
          </a:prstGeom>
          <a:solidFill>
            <a:srgbClr val="2DB554">
              <a:alpha val="40000"/>
            </a:srgbClr>
          </a:solidFill>
          <a:ln w="12700">
            <a:solidFill>
              <a:srgbClr val="2DB55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2DB554">
              <a:alpha val="45000"/>
            </a:srgbClr>
          </a:solidFill>
          <a:ln w="12700">
            <a:solidFill>
              <a:srgbClr val="2DB55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0058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Esmeraldas: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Carnaval y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Fiestas de Santos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F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alegría, el tambor y la marimba como ejes de celebración afrodescendiente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de Esmeraldas · Patrimonio Inmaterial del Ecuador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B554"/>
          </a:solidFill>
          <a:ln w="12700">
            <a:solidFill>
              <a:srgbClr val="2DB55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73152" cy="502920"/>
          </a:xfrm>
          <a:prstGeom prst="rect">
            <a:avLst/>
          </a:prstGeom>
          <a:solidFill>
            <a:srgbClr val="2DB554"/>
          </a:solidFill>
          <a:ln w="12700">
            <a:solidFill>
              <a:srgbClr val="2DB55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Carnaval de Esmeraldas y la Marimba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5029200" cy="384048"/>
          </a:xfrm>
          <a:prstGeom prst="rect">
            <a:avLst/>
          </a:prstGeom>
          <a:solidFill>
            <a:srgbClr val="2DB554">
              <a:alpha val="85000"/>
            </a:srgbClr>
          </a:solidFill>
          <a:ln w="12700">
            <a:solidFill>
              <a:srgbClr val="2DB55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8778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🥁  El Carnaval Esmeraldeño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carnaval en Esmeraldas no es solo diversión: es memoria viva de la resistencia y cultura africana que llegó al Pacífico ecuatoriano desde el siglo XVII.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marimba (chonta) y los cununos (tambores) guían el baile ritual llamado chigualo y el currulao, ejecutados en honor a santos y difuntos.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420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carnaval, las comunidades afrodescendientes recorren las calles al ritmo de la chirimía y se realizan comparsas llenas de color.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comida ritual incluye: encocado de camarón, arroz con coco, maito de pescado y el tradicional champús (colada de maíz con frutas).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fiestas de santos patronales (Virgen del Carmen, San Martín de Porres) combinan novenas, juegos pirotécnicos y grandes festejos comunitarios.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822960"/>
            <a:ext cx="3017520" cy="1143000"/>
          </a:xfrm>
          <a:prstGeom prst="rect">
            <a:avLst/>
          </a:prstGeom>
          <a:solidFill>
            <a:srgbClr val="2DB554"/>
          </a:solidFill>
          <a:ln w="12700">
            <a:solidFill>
              <a:srgbClr val="2DB5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5760720" y="8686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🎵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46520" y="914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Marimba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13350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Inmaterial UNESCO (2015)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0" y="2103120"/>
            <a:ext cx="3017520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5760720" y="21488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Carnaval acuático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26151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con agua y talco en el malecón de Esmeraldas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15000" y="3383280"/>
            <a:ext cx="3017520" cy="114300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5760720" y="34290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🕯️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4652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Chigualo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38953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Velorio cantado para niños fallecidos: ritual sagrado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DB554"/>
          </a:solidFill>
          <a:ln w="12700">
            <a:solidFill>
              <a:srgbClr val="2DB55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3B24"/>
                </a:solidFill>
              </a:rPr>
              <a:t>PERSONA 3 · Esmeraldas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8B3A10"/>
          </a:solidFill>
          <a:ln w="12700">
            <a:solidFill>
              <a:srgbClr val="8B3A1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548640" y="0"/>
            <a:ext cx="201168" cy="5143500"/>
          </a:xfrm>
          <a:prstGeom prst="rect">
            <a:avLst/>
          </a:prstGeom>
          <a:solidFill>
            <a:srgbClr val="C1440E">
              <a:alpha val="45000"/>
            </a:srgbClr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C1440E">
              <a:alpha val="50000"/>
            </a:srgbClr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0058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Guayas y Los Ríos: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Rodeo Montubio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fiesta del campo, el chagra y la identidad montubia en el litoral interior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Guayas · Los Ríos · Octubre · Declarado Patrimonio Nacional (2009)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73152" cy="50292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Rodeo Montubio: Fiesta del Pueblo Costeño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Celebrado principalmente en octubre, el Rodeo Montubio es la máxima expresión de la identidad campesina del litoral interior ecuatoriano.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886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🐴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15568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 de potros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86537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jinete montubio demuestra destreza al domar caballos salvajes. Considera la mayor prueba de valentía en la fiesta.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389888"/>
            <a:ext cx="3886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480560" y="14630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🤠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230368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amorfino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186537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Coplas improvisadas que los montubios cantan en competencia. Mezclan humor, amor y critica social con gran ingenio.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3886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365760" y="32004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🍽️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15568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 del campo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360273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 de guanta, muchines de yuca, maduro con queso y guarapo. Los convites comunitarios son parte central del festejo.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3127248"/>
            <a:ext cx="3886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4480560" y="32004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230368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Peleas de gallos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360273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Tradición ancestral montubia donde los criadores de gallos compiten. Hoy regulada, sigue siendo parte del imaginario festivo.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0B8"/>
                </a:solidFill>
              </a:rPr>
              <a:t>PERSONA 4 · Guayas y Los Ríos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548640" y="0"/>
            <a:ext cx="201168" cy="5143500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C7293">
              <a:alpha val="5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0058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Tradicionales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Celebración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Conclusión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Saberes ancestrales, continuidad cultural y patrimonio vivo de la Costa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Ecuatoriana · Cierre e integración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73152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Tradicionales de Celebración Costera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651760" cy="34747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Cocción en hojas de bijao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Esmeraldas · Manabí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ancestral de cocinar alimentos envueltos en hojas de bijao sobre brasas. Conserva jugos, sabor y aporta aroma único al maito y bollos.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154680" y="804672"/>
            <a:ext cx="2651760" cy="34747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246120" y="841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Molido en piedra (metate)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Toda la Costa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6120" y="14173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maní, el maíz y las especias se muelen en piedra para preparar el viche, el champús y salsas rituales. La textura artesanal no se replica industrialmente.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80467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5989320" y="804672"/>
            <a:ext cx="2651760" cy="34747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080760" y="841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Fermentación ancestral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Comunidades montubias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760" y="14173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chicha de jora y el guarapo de caña se fermentan en vasijas de barro. Su preparación es un ritual previo a la fiesta que involucra a toda la familia.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77063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320040" y="2770632"/>
            <a:ext cx="2651760" cy="34747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41148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Transmisión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Toda la Costa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recetas, coplas, amorfinos y rituales no están escritos: se aprenden observando y participando. La cocina y la fiesta son escuelas vivas de identidad.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277063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154680" y="2770632"/>
            <a:ext cx="2651760" cy="34747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324612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Uso de plantas medicinales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Comunidades indígenas y afro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4612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Hierba buena, anís de monte y albahaca acompañan bebidas rituales. Su selección y combinación está codificada en el saber de abuelas y curanderos.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277063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5989320" y="2770632"/>
            <a:ext cx="2651760" cy="34747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608076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Ritmo como invocación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Esmeraldas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807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tradición afroesmeraldeña, el ritmo del cununos y la marimba no es entretenimiento: es lenguaje sagrado que convoca espíritus y refuerza el lazo comunitario.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FDC"/>
                </a:solidFill>
              </a:rPr>
              <a:t>PERSONA 5 · Técnicas Tradicionales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73152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Conclusión: La Fiesta como Patrimonio Vivo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94360" y="877824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festividades de la Costa ecuatoriana son mucho más que celebraciones: son sistemas vivos de transmisión cultural donde la comida, la música, el rito y la comunidad se entrelazan para afirmar identidades que resisten y se transforman.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975104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1148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9751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provincia costera conserva festividades únicas que reflejan su historia, sincretismo y contacto con el mar y la selva.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55117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1148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5511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comida ritual es memoria gustativa: sus recetas, técnicas e ingredientes codifican siglos de saberes comunitarios.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127248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31272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música y la danza (marimba, amorfino, currulao) son patrimonio inmaterial reconocido nacional e internacionalmente.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703320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3703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Rodeo Montubio y las fiestas de Santos son declaraciones de identidad que reafirman el orgullo del pueblo costeño.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1148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42793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 estas tradiciones implica apoyar a las comunidades, valorar sus saberes y garantizar su transmisión a las nuevas generaciones.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FDC"/>
                </a:solidFill>
              </a:rPr>
              <a:t>PERSONA 5 · Conclusión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2E3E"/>
          </a:solidFill>
          <a:ln w="12700">
            <a:solidFill>
              <a:srgbClr val="0A2E3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73152" cy="502920"/>
          </a:xfrm>
          <a:prstGeom prst="rect">
            <a:avLst/>
          </a:prstGeom>
          <a:solidFill>
            <a:srgbClr val="0A2E3E"/>
          </a:solidFill>
          <a:ln w="12700">
            <a:solidFill>
              <a:srgbClr val="0A2E3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Bibliográficas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4124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84048" y="841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22960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Nacional de Patrimonio Cultural (INPC). (2013). Guía de bienes culturales del Ecuador: Festividades y manifestaciones culturales. Ministerio de Cultura del Ecuador.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1426464"/>
            <a:ext cx="8321040" cy="0"/>
          </a:xfrm>
          <a:prstGeom prst="line">
            <a:avLst/>
          </a:prstGeom>
          <a:noFill/>
          <a:ln w="6350">
            <a:solidFill>
              <a:srgbClr val="D8E8E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84048" y="150876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84048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490472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UNESCO. (2015). Marimba music and traditional chants and dances from the Colombian and Ecuadorian South Pacific region. Inscripción en Lista del Patrimonio Inmaterial de la Humanidad.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093976"/>
            <a:ext cx="8321040" cy="0"/>
          </a:xfrm>
          <a:prstGeom prst="line">
            <a:avLst/>
          </a:prstGeom>
          <a:noFill/>
          <a:ln w="6350">
            <a:solidFill>
              <a:srgbClr val="D8E8E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384048" y="217627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84048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157984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Naranjo Villacís, M. (2002). La cultura popular en el Ecuador: Costa. Tomo IX. Centro Interamericano de Artesanías y Artes Populares (CIDAP). Cuenca, Ecuador.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2761488"/>
            <a:ext cx="8321040" cy="0"/>
          </a:xfrm>
          <a:prstGeom prst="line">
            <a:avLst/>
          </a:prstGeom>
          <a:noFill/>
          <a:ln w="6350">
            <a:solidFill>
              <a:srgbClr val="D8E8E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384048" y="2843784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384048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25496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Troya, A. (2009). Declaratoria del Rodeo Montubio como Patrimonio Cultural Inmaterial del Estado. Ministerio de Cultura del Ecuador. Acuerdo Ministerial N.º 1823.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429000"/>
            <a:ext cx="8321040" cy="0"/>
          </a:xfrm>
          <a:prstGeom prst="line">
            <a:avLst/>
          </a:prstGeom>
          <a:noFill/>
          <a:ln w="6350">
            <a:solidFill>
              <a:srgbClr val="D8E8E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384048" y="3511296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84048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93008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Cobo, M. &amp; Játiva, M. (2016). Gastronomía ritual del litoral ecuatoriano: Entre la memoria y la mesa. Revista Patrimonio y Sociedad, Universidad Central del Ecuador, 8(2), 45–67.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4096512"/>
            <a:ext cx="8321040" cy="0"/>
          </a:xfrm>
          <a:prstGeom prst="line">
            <a:avLst/>
          </a:prstGeom>
          <a:noFill/>
          <a:ln w="6350">
            <a:solidFill>
              <a:srgbClr val="D8E8E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84048" y="417880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8404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Savignon, J. P. (2004). Etnografía de las festividades afroesmeraldeñas: Chigualo, currulao y fiestas de santos. Facultad Latinoamericana de Ciencias Sociales (FLACSO) – Ecuador.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A2E3E"/>
          </a:solidFill>
          <a:ln w="12700">
            <a:solidFill>
              <a:srgbClr val="0A2E3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8BE"/>
                </a:solidFill>
              </a:rPr>
              <a:t>Festividades de la Costa Ecuatoriana · Grupo 1–5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1565</Words>
  <Application>Microsoft Office PowerPoint</Application>
  <PresentationFormat>Presentación en pantalla (16:9)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Festividades de la Costa Ecuatoriana</dc:title>
  <dc:subject>PptxGenJS Presentation</dc:subject>
  <dc:creator>PptxGenJS</dc:creator>
  <cp:lastModifiedBy>alexander ilbys</cp:lastModifiedBy>
  <cp:revision>2</cp:revision>
  <dcterms:created xsi:type="dcterms:W3CDTF">2026-03-06T03:08:24Z</dcterms:created>
  <dcterms:modified xsi:type="dcterms:W3CDTF">2026-03-06T03:13:28Z</dcterms:modified>
</cp:coreProperties>
</file>